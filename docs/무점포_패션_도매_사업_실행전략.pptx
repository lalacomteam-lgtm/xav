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109728" cy="214884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23444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F0B47E"/>
                </a:solidFill>
                <a:latin typeface="맑은 고딕"/>
                <a:ea typeface="맑은 고딕"/>
              </a:rPr>
              <a:t>사업 실행 전략 보고서  ·  2026년 7월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691640"/>
            <a:ext cx="103327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무점포 패션 도매 사업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</a:rPr>
              <a:t>실행 전략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100584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000" b="1">
                <a:solidFill>
                  <a:srgbClr val="BFD0EE"/>
                </a:solidFill>
                <a:latin typeface="맑은 고딕"/>
                <a:ea typeface="맑은 고딕"/>
              </a:rPr>
              <a:t>도매꾹(메인) + 자체 회원제 도매몰(2단계)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500" b="0">
                <a:solidFill>
                  <a:srgbClr val="9AABCC"/>
                </a:solidFill>
                <a:latin typeface="맑은 고딕"/>
                <a:ea typeface="맑은 고딕"/>
              </a:rPr>
              <a:t>동대문 상가 입점 없이 시작하는 온라인 B2B 도매 로드맵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5074920"/>
            <a:ext cx="2926080" cy="15240"/>
          </a:xfrm>
          <a:prstGeom prst="rect">
            <a:avLst/>
          </a:prstGeom>
          <a:solidFill>
            <a:srgbClr val="4A5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257800"/>
            <a:ext cx="8229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BFD0EE"/>
                </a:solidFill>
                <a:latin typeface="맑은 고딕"/>
                <a:ea typeface="맑은 고딕"/>
              </a:rPr>
              <a:t>작성  XAV+ TEAM 사업기획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1. 한눈에 보는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141732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81328"/>
            <a:ext cx="1051560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F0B47E"/>
                </a:solidFill>
                <a:latin typeface="맑은 고딕"/>
                <a:ea typeface="맑은 고딕"/>
              </a:rPr>
              <a:t>도매의 두 갈래 길 — </a:t>
            </a: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상가 입점형은 신상마켓, 무점포형은 도매꾹이 정답이다.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D5DFF0"/>
                </a:solidFill>
                <a:latin typeface="맑은 고딕"/>
                <a:ea typeface="맑은 고딕"/>
              </a:rPr>
              <a:t>우리는 매장 임대·상주 직원 부담 없이 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도매꾹(사입 도매)을 메인 채널</a:t>
            </a:r>
            <a:r>
              <a:rPr sz="1350" b="0">
                <a:solidFill>
                  <a:srgbClr val="D5DFF0"/>
                </a:solidFill>
                <a:latin typeface="맑은 고딕"/>
                <a:ea typeface="맑은 고딕"/>
              </a:rPr>
              <a:t>로 삼고, 단골 소매상이 쌓이면 </a:t>
            </a:r>
            <a:r>
              <a:rPr sz="1350" b="1">
                <a:solidFill>
                  <a:srgbClr val="FFFFFF"/>
                </a:solidFill>
                <a:latin typeface="맑은 고딕"/>
                <a:ea typeface="맑은 고딕"/>
              </a:rPr>
              <a:t>자체 회원제 도매몰로 확장</a:t>
            </a:r>
            <a:r>
              <a:rPr sz="1350" b="0">
                <a:solidFill>
                  <a:srgbClr val="D5DFF0"/>
                </a:solidFill>
                <a:latin typeface="맑은 고딕"/>
                <a:ea typeface="맑은 고딕"/>
              </a:rPr>
              <a:t>하는 2단계 전략으로 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7180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1F335C"/>
                </a:solidFill>
                <a:latin typeface="맑은 고딕"/>
                <a:ea typeface="맑은 고딕"/>
              </a:rPr>
              <a:t>핵심 승부처 3가지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2900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29000"/>
            <a:ext cx="64008" cy="251460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7530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E87A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95928"/>
            <a:ext cx="314553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자체제작 차별화 상품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61688"/>
            <a:ext cx="3145536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6472"/>
                </a:solidFill>
                <a:latin typeface="맑은 고딕"/>
                <a:ea typeface="맑은 고딕"/>
              </a:rPr>
              <a:t>남들과 같은 옷은 최저가 싸움으로 직행한다. 자체제작 오리지널로 가격 경쟁 자체를 피한다.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8536" y="342900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8536" y="3429000"/>
            <a:ext cx="64008" cy="25146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17136" y="357530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E8B8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136" y="3995928"/>
            <a:ext cx="314553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공급 안정성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136" y="4361688"/>
            <a:ext cx="3145536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6472"/>
                </a:solidFill>
                <a:latin typeface="맑은 고딕"/>
                <a:ea typeface="맑은 고딕"/>
              </a:rPr>
              <a:t>품절·배송 지연·불량 제로. 공급이 흔들리면 셀러가 이탈한다. 안정성이 곧 신뢰지수다.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4152" y="3429000"/>
            <a:ext cx="3602736" cy="25146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74152" y="3429000"/>
            <a:ext cx="64008" cy="2514600"/>
          </a:xfrm>
          <a:prstGeom prst="rect">
            <a:avLst/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2752" y="357530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A447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995928"/>
            <a:ext cx="3145536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퀄리티 상품 촬영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2752" y="4361688"/>
            <a:ext cx="3145536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5A6472"/>
                </a:solidFill>
                <a:latin typeface="맑은 고딕"/>
                <a:ea typeface="맑은 고딕"/>
              </a:rPr>
              <a:t>셀러가 “이건 팔린다”고 느끼는 촬영컷·상세페이지. 셀러가 바로 재판매에 쓸 수준으로 제공한다.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MARKET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두 갈래 길 — 상가 입점 vs 무점포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71600"/>
          <a:ext cx="1118311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0870"/>
                <a:gridCol w="4621120"/>
                <a:gridCol w="46211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상가 입점 (신상마켓)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무점포 (도매꾹)  ✔ 우리 선택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진입 조건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승인된 동대문·남대문·부산 도매상가에</a:t>
                      </a:r>
                    </a:p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매장 보유 필수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사업자등록증 + 통신판매업 신고만 있으면 가능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고정비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매장 임대료 + 상주 직원 인건비 (부담 큼)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매장·직원 불필요 (부담 작음)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물류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사입삼촌·퀵 등 상가 기반 야간 물류망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택배 직접 발송 (내 창고/사무실 기준)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판매 방식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소매상이 상가/앱에서 사입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소매 셀러가 온라인에서 대량 사입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적합도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고정비 감당 가능한 상가 사업자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우리처럼 무점포로 시작하는 브랜드형 도매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806440"/>
            <a:ext cx="11183112" cy="5669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907024"/>
            <a:ext cx="1069848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✔  결론 :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매장 임대·상주 직원 부담을 지지 않는 무점포 원칙 → 도매꾹을 메인 채널로 선택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CHANNEL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2. 채널 전략 — 2단계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5440680" cy="27432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4892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F0B47E"/>
                </a:solidFill>
                <a:latin typeface="맑은 고딕"/>
                <a:ea typeface="맑은 고딕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74520"/>
            <a:ext cx="48920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도매꾹(사입 도매)을 메인으로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4892040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D5DFF0"/>
                </a:solidFill>
                <a:latin typeface="맑은 고딕"/>
                <a:ea typeface="맑은 고딕"/>
              </a:rPr>
              <a:t>소매 셀러가 우리 상품을 대량(묶음)으로 미리 사입해 가는 ‘사입판매’ 구조 — 낱개 위탁(드롭십)이 아닌 진짜 도매업.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사업자 회원 약 40만 · 전문 셀러 약 4.8만 명</a:t>
            </a:r>
            <a:r>
              <a:rPr sz="1250" b="0">
                <a:solidFill>
                  <a:srgbClr val="D5DFF0"/>
                </a:solidFill>
                <a:latin typeface="맑은 고딕"/>
                <a:ea typeface="맑은 고딕"/>
              </a:rPr>
              <a:t> — 우리 상품을 팔아줄 소매상 풀이 이미 존재.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035040" y="2514600"/>
            <a:ext cx="594360" cy="5486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1417320"/>
            <a:ext cx="4965192" cy="274320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95160" y="1600200"/>
            <a:ext cx="4416552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>
                <a:solidFill>
                  <a:srgbClr val="CFEFE7"/>
                </a:solidFill>
                <a:latin typeface="맑은 고딕"/>
                <a:ea typeface="맑은 고딕"/>
              </a:rPr>
              <a:t>STAGE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874520"/>
            <a:ext cx="4416552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</a:rPr>
              <a:t>자체 회원제 도매몰로 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2377440"/>
            <a:ext cx="4416552" cy="1600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0">
                <a:solidFill>
                  <a:srgbClr val="E2F3EF"/>
                </a:solidFill>
                <a:latin typeface="맑은 고딕"/>
                <a:ea typeface="맑은 고딕"/>
              </a:rPr>
              <a:t>재구매 단골 소매상이 쌓이면 카페24 등으로 자체 도매몰 구축 → 단골 이전.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회원 승인제 + 등급별 도매단가</a:t>
            </a:r>
            <a:r>
              <a:rPr sz="1250" b="0">
                <a:solidFill>
                  <a:srgbClr val="E2F3EF"/>
                </a:solidFill>
                <a:latin typeface="맑은 고딕"/>
                <a:ea typeface="맑은 고딕"/>
              </a:rPr>
              <a:t> → 플랫폼 수수료 제거(마진 개선), 고객 관계 직접 소유(락인).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43400"/>
            <a:ext cx="11183112" cy="5486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43984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87A2E"/>
                </a:solidFill>
                <a:latin typeface="맑은 고딕"/>
                <a:ea typeface="맑은 고딕"/>
              </a:rPr>
              <a:t>핵심 : </a:t>
            </a:r>
            <a:r>
              <a:rPr sz="1300" b="1">
                <a:solidFill>
                  <a:srgbClr val="1F335C"/>
                </a:solidFill>
                <a:latin typeface="맑은 고딕"/>
                <a:ea typeface="맑은 고딕"/>
              </a:rPr>
              <a:t>플랫폼 = 신규 셀러 유입  ·  자체몰 = 단골 유지 — 역할을 나눈다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74920"/>
            <a:ext cx="11183112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1">
                <a:solidFill>
                  <a:srgbClr val="5A6472"/>
                </a:solidFill>
                <a:latin typeface="맑은 고딕"/>
                <a:ea typeface="맑은 고딕"/>
              </a:rPr>
              <a:t>참고 : </a:t>
            </a:r>
            <a:r>
              <a:rPr sz="1150" b="0">
                <a:solidFill>
                  <a:srgbClr val="5A6472"/>
                </a:solidFill>
                <a:latin typeface="맑은 고딕"/>
                <a:ea typeface="맑은 고딕"/>
              </a:rPr>
              <a:t>같은 회사의 ‘도매매’·‘오너클랜’은 위탁·배송대행(드롭십) 구조로 소비자에게 직접 낱개 발송해야 하므로, 우리 사업 그림과 맞지 않아 제외한다.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CHANNEL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채널별 역할과 유의점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08760"/>
          <a:ext cx="11183111" cy="3886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286"/>
                <a:gridCol w="4766572"/>
                <a:gridCol w="4033253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채널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 · 장점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유의점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도매꾹 (1단계)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셀러 유입·매출·데이터 확보</a:t>
                      </a:r>
                    </a:p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등록비 사실상 무료, 신규 소매상 자동 유입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판매수수료 발생</a:t>
                      </a:r>
                    </a:p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플랫폼 규칙·랭킹에 종속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자체 도매몰 (2단계)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수수료 절감, 등급별 단가</a:t>
                      </a:r>
                    </a:p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단골 락인, 브랜드 소유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초기 트래픽 0 → 셀러를 직접 데려와야 함</a:t>
                      </a:r>
                    </a:p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구축·운영·CS 부담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1143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카페/밴드/카톡채널 (보조)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신상 공지·단골 소통 허브 (CRM)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‘아무나 퍼가기’ 금지</a:t>
                      </a:r>
                    </a:p>
                    <a:p>
                      <a:r>
                        <a:rPr sz="130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→ 가입 셀러만 열람 + 워터마크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OPERATION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3. 도매꾹 실전 운영 — 가입 조건 · 비용 구조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335C"/>
                </a:solidFill>
                <a:latin typeface="맑은 고딕"/>
                <a:ea typeface="맑은 고딕"/>
              </a:rPr>
              <a:t>가입 조건 · 절차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691640"/>
            <a:ext cx="5394960" cy="228600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874519"/>
            <a:ext cx="4937760" cy="182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00" b="1">
                <a:solidFill>
                  <a:srgbClr val="1F335C"/>
                </a:solidFill>
                <a:latin typeface="맑은 고딕"/>
                <a:ea typeface="맑은 고딕"/>
              </a:rPr>
              <a:t>사업자회원 인증 필수</a:t>
            </a:r>
            <a:r>
              <a:rPr sz="1200" b="0">
                <a:solidFill>
                  <a:srgbClr val="333A45"/>
                </a:solidFill>
                <a:latin typeface="맑은 고딕"/>
                <a:ea typeface="맑은 고딕"/>
              </a:rPr>
              <a:t> — 사업자등록증 기반 (일반·간이과세자 포함)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00" b="1">
                <a:solidFill>
                  <a:srgbClr val="1F335C"/>
                </a:solidFill>
                <a:latin typeface="맑은 고딕"/>
                <a:ea typeface="맑은 고딕"/>
              </a:rPr>
              <a:t>통신판매업 신고</a:t>
            </a:r>
            <a:r>
              <a:rPr sz="1200" b="0">
                <a:solidFill>
                  <a:srgbClr val="333A45"/>
                </a:solidFill>
                <a:latin typeface="맑은 고딕"/>
                <a:ea typeface="맑은 고딕"/>
              </a:rPr>
              <a:t> 함께 완료 (온라인 판매업)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00" b="0">
                <a:solidFill>
                  <a:srgbClr val="333A45"/>
                </a:solidFill>
                <a:latin typeface="맑은 고딕"/>
                <a:ea typeface="맑은 고딕"/>
              </a:rPr>
              <a:t>가입 → 사업자 인증 → 상품 등록 시 ‘팝니다’ 설정 → 판매 시작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00" b="1">
                <a:solidFill>
                  <a:srgbClr val="1F335C"/>
                </a:solidFill>
                <a:latin typeface="맑은 고딕"/>
                <a:ea typeface="맑은 고딕"/>
              </a:rPr>
              <a:t>세금계산서 발행 지원</a:t>
            </a:r>
            <a:r>
              <a:rPr sz="1200" b="0">
                <a:solidFill>
                  <a:srgbClr val="333A45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2801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1F335C"/>
                </a:solidFill>
                <a:latin typeface="맑은 고딕"/>
                <a:ea typeface="맑은 고딕"/>
              </a:rPr>
              <a:t>비용 · 정산 구조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72200" y="1691640"/>
          <a:ext cx="5513831" cy="3520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0355"/>
                <a:gridCol w="4043476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상품 등록비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일반 1일 20원 수준 / 사업자·기업회원은 기본 등록비 무료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판매수수료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카테고리별 약 3%~6.3% (VAT 별도, 카드수수료 포함)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— 오픈마켓 중 최저 수준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정산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구매확정 후 약 2영업일부터 정산 (‘매일 정산’ 운영)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최소주문수량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상품당 보통 5~10개 이상 묶음 단위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대량 사입일수록 단가 인하·흥정 가능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88152"/>
            <a:ext cx="106984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도매꾹은 사업자 인증만으로 진입 가능 + 오픈마켓 최저 수준 수수료 → 무점포 도매의 최적 출발점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OPERATION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도매꾹 랭킹 · 상위노출 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5A6472"/>
                </a:solidFill>
                <a:latin typeface="맑은 고딕"/>
                <a:ea typeface="맑은 고딕"/>
              </a:rPr>
              <a:t>도매꾹은 </a:t>
            </a: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‘상품기준 노출지수’ + ‘판매자기준 노출지수’</a:t>
            </a:r>
            <a:r>
              <a:rPr sz="1350" b="0">
                <a:solidFill>
                  <a:srgbClr val="5A6472"/>
                </a:solidFill>
                <a:latin typeface="맑은 고딕"/>
                <a:ea typeface="맑은 고딕"/>
              </a:rPr>
              <a:t>로 랭킹을 매긴다. 상위노출이 곧 셀러 유입이므로 아래 4가지를 집중 관리한다.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4884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48840"/>
            <a:ext cx="64008" cy="178308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9514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E87A2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15768"/>
            <a:ext cx="504748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상세페이지 충실도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81528"/>
            <a:ext cx="50474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실측 사이즈·소재·컬러·촬영컷을 셀러가 바로 재판매에 쓸 수 있는 수준으로 제작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14884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0488" y="2148840"/>
            <a:ext cx="64008" cy="178308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29514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E8B8B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715768"/>
            <a:ext cx="504748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판매량·신상·리뷰 축적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81528"/>
            <a:ext cx="50474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초기엔 소량이라도 꾸준한 거래·리뷰를 만들어 노출지수를 올린다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1480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114800"/>
            <a:ext cx="64008" cy="1783080"/>
          </a:xfrm>
          <a:prstGeom prst="rect">
            <a:avLst/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26110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2A447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81728"/>
            <a:ext cx="504748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판매자 신뢰지수 방어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47488"/>
            <a:ext cx="50474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품절 방치·배송 지연·오배송 제로 — 판매자 점수를 지킨다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4114800"/>
            <a:ext cx="5504688" cy="178308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4114800"/>
            <a:ext cx="64008" cy="178308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4261104"/>
            <a:ext cx="640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03A2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4681728"/>
            <a:ext cx="5047488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차별화 상품을 상단에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047488"/>
            <a:ext cx="50474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같은 옷은 최저가 싸움 → 자체제작 오리지널을 간판으로 배치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STAGE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4. 자체 회원제 도매몰 구축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98448"/>
            <a:ext cx="11155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>
                <a:solidFill>
                  <a:srgbClr val="5A6472"/>
                </a:solidFill>
                <a:latin typeface="맑은 고딕"/>
                <a:ea typeface="맑은 고딕"/>
              </a:rPr>
              <a:t>카페24 등 솔루션으로 </a:t>
            </a: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구축 자체는 무료</a:t>
            </a:r>
            <a:r>
              <a:rPr sz="1350" b="0">
                <a:solidFill>
                  <a:srgbClr val="5A6472"/>
                </a:solidFill>
                <a:latin typeface="맑은 고딕"/>
                <a:ea typeface="맑은 고딕"/>
              </a:rPr>
              <a:t> (도메인·결제·디자인 등 부대비용 별도) — 회원 승인제 · 회원등급별 차등가격 지원.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5504688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11680"/>
            <a:ext cx="64008" cy="141732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1579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회원 승인제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560320"/>
            <a:ext cx="50292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사업자 인증을 거친 소매상만 가입 승인 → 소비자 차단, 도매가 노출 통제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11680"/>
            <a:ext cx="5504688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011680"/>
            <a:ext cx="64008" cy="14173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579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등급별 도매단가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560320"/>
            <a:ext cx="50292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거래량에 따라 회원 등급별 단가 차등 → 대량 거래·재구매 유도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611880"/>
            <a:ext cx="5504688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64008" cy="1417320"/>
          </a:xfrm>
          <a:prstGeom prst="rect">
            <a:avLst/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37581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단골 락인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160520"/>
            <a:ext cx="50292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도매꾹 우수 소매상에게 ‘자체몰 전용 단가·선출시’ 혜택 → 자체몰로 이전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611880"/>
            <a:ext cx="5504688" cy="141732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611880"/>
            <a:ext cx="64008" cy="14173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58184"/>
            <a:ext cx="5029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데이터 소유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160520"/>
            <a:ext cx="50292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누가·무엇을·얼마나 사는지 직접 확보 → 기획·생산에 반영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44068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F0B47E"/>
                </a:solidFill>
                <a:latin typeface="맑은 고딕"/>
                <a:ea typeface="맑은 고딕"/>
              </a:rPr>
              <a:t>전환 시점 :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자체몰은 트래픽을 스스로 만들어야 한다 → 도매꾹 재구매 단골 30~50곳(월 반복 거래) 확보 후 구축이 안전.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D5DFF0"/>
                </a:solidFill>
                <a:latin typeface="맑은 고딕"/>
                <a:ea typeface="맑은 고딕"/>
              </a:rPr>
              <a:t>너무 이르면 빈 몰만 남는다.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5. 소싱 전략 — 하이브리드 3단계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5A6472"/>
                </a:solidFill>
                <a:latin typeface="맑은 고딕"/>
                <a:ea typeface="맑은 고딕"/>
              </a:rPr>
              <a:t>국내에서 신상을 빠르게 띄우고 → 반응이 오면 베트남·중국으로 원가를 낮춰 물량화한다. 세 소싱을 ‘상품 역할’로 나눠 배치.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1828800"/>
          <a:ext cx="11183109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47644"/>
                <a:gridCol w="2528355"/>
                <a:gridCol w="2333866"/>
                <a:gridCol w="2528355"/>
                <a:gridCol w="194488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소싱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원가 / 리드타임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강점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리스크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국내 자체제작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트렌드 신상·반응 테스트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빠른 리오더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원가 높음 / 초단납기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동대문 소량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품질관리·속도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단가 부담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베트남 생산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검증된 스테디셀러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중간 물량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중간 / 원단입고 후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2~4주+물류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원가·품질 균형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FTA 관세혜택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리드타임 김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MOQ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중국 완사입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가격경쟁·미끼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베이직 물량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최저 / 빠름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최저원가·최다 SKU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트렌드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재고 통째 부담</a:t>
                      </a:r>
                    </a:p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품질 편차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188720" y="525780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7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536752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E87A2E"/>
                </a:solidFill>
                <a:latin typeface="맑은 고딕"/>
                <a:ea typeface="맑은 고딕"/>
              </a:rPr>
              <a:t>국내 자체제작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71500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신상 테스트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525780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536752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반응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71500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판매 데이터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525780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5367528"/>
            <a:ext cx="26517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2E8B8B"/>
                </a:solidFill>
                <a:latin typeface="맑은 고딕"/>
                <a:ea typeface="맑은 고딕"/>
              </a:rPr>
              <a:t>베트남·중국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715000"/>
            <a:ext cx="265176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원가 절감 · 물량화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977639" y="5532120"/>
            <a:ext cx="685800" cy="3200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635240" y="5532120"/>
            <a:ext cx="685800" cy="320040"/>
          </a:xfrm>
          <a:prstGeom prst="rightArrow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SOURCING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소싱 시 반드시 챙길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40"/>
            <a:ext cx="64008" cy="10241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81912"/>
            <a:ext cx="2377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E87A2E"/>
                </a:solidFill>
                <a:latin typeface="맑은 고딕"/>
                <a:ea typeface="맑은 고딕"/>
              </a:rPr>
              <a:t>KC인증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581912"/>
            <a:ext cx="813816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성인의류는 대상 아님. 단, 유아복(36개월 미만) = 안전확인 인증, 아동복(13세 이하) = 공급자적합성 인증 의무.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670048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670048"/>
            <a:ext cx="64008" cy="102412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88920"/>
            <a:ext cx="2377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E8B8B"/>
                </a:solidFill>
                <a:latin typeface="맑은 고딕"/>
                <a:ea typeface="맑은 고딕"/>
              </a:rPr>
              <a:t>관세·부가세·FTA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788920"/>
            <a:ext cx="813816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수입의류 기본관세 약 13% + 부가세 10%. 한-중 / 한-베 FTA 원산지증명서 확보 시 특혜세율로 관세 절감.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77056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877056"/>
            <a:ext cx="64008" cy="1024128"/>
          </a:xfrm>
          <a:prstGeom prst="rect">
            <a:avLst/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995928"/>
            <a:ext cx="2377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2A4478"/>
                </a:solidFill>
                <a:latin typeface="맑은 고딕"/>
                <a:ea typeface="맑은 고딕"/>
              </a:rPr>
              <a:t>원산지 표기·라벨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995928"/>
            <a:ext cx="813816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Made in ○○ 원산지 표기, 섬유 혼용률·취급주의 라벨이 없으면 통관·판매 불가.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84064"/>
            <a:ext cx="11183112" cy="102412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5084064"/>
            <a:ext cx="64008" cy="102412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02936"/>
            <a:ext cx="23774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C03A2B"/>
                </a:solidFill>
                <a:latin typeface="맑은 고딕"/>
                <a:ea typeface="맑은 고딕"/>
              </a:rPr>
              <a:t>현금흐름 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5202936"/>
            <a:ext cx="8138160" cy="7863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세 소싱의 결제조건·리드타임이 달라 자금이 물리는 시점이 겹치지 않게 관리 — 도매는 재고 사업이다.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MARKETING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6. 마케팅 — 셀러(소매상) 유치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1183112" cy="658368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6984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1F335C"/>
                </a:solidFill>
                <a:latin typeface="맑은 고딕"/>
                <a:ea typeface="맑은 고딕"/>
              </a:rPr>
              <a:t>광고 대상은 소비자가 아니라 소매 셀러(B2B). </a:t>
            </a:r>
            <a:r>
              <a:rPr sz="1300" b="0">
                <a:solidFill>
                  <a:srgbClr val="5A6472"/>
                </a:solidFill>
                <a:latin typeface="맑은 고딕"/>
                <a:ea typeface="맑은 고딕"/>
              </a:rPr>
              <a:t>목표는 ‘셀러가 내 물건을 골라 팔게 만드는 것’ — 소비자 노출은 셀러들이 알아서 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94560"/>
            <a:ext cx="4023360" cy="3977639"/>
          </a:xfrm>
          <a:prstGeom prst="roundRect">
            <a:avLst>
              <a:gd name="adj" fmla="val 8000"/>
            </a:avLst>
          </a:prstGeom>
          <a:solidFill>
            <a:srgbClr val="FB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4747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C03A2B"/>
                </a:solidFill>
                <a:latin typeface="맑은 고딕"/>
                <a:ea typeface="맑은 고딕"/>
              </a:rPr>
              <a:t>✕  하지 말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26080"/>
            <a:ext cx="352044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300" b="1">
                <a:solidFill>
                  <a:srgbClr val="1F335C"/>
                </a:solidFill>
                <a:latin typeface="맑은 고딕"/>
                <a:ea typeface="맑은 고딕"/>
              </a:rPr>
              <a:t>네이버 홈페이지·블로그 다량 살포 광고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0">
                <a:solidFill>
                  <a:srgbClr val="5A6472"/>
                </a:solidFill>
                <a:latin typeface="맑은 고딕"/>
                <a:ea typeface="맑은 고딕"/>
              </a:rPr>
              <a:t>어뷰징으로 분류되어 저품질 페널티. 사이트뿐 아니라 스마트스토어·브랜드 전체가 검색에서 통째로 누락될 수 있고 회복이 어렵다.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50" b="1">
                <a:solidFill>
                  <a:srgbClr val="C03A2B"/>
                </a:solidFill>
                <a:latin typeface="맑은 고딕"/>
                <a:ea typeface="맑은 고딕"/>
              </a:rPr>
              <a:t>→ 계획에서 제외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194560"/>
            <a:ext cx="6976872" cy="3977639"/>
          </a:xfrm>
          <a:prstGeom prst="roundRect">
            <a:avLst>
              <a:gd name="adj" fmla="val 8000"/>
            </a:avLst>
          </a:prstGeom>
          <a:solidFill>
            <a:srgbClr val="EE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377440"/>
            <a:ext cx="63093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2E7D32"/>
                </a:solidFill>
                <a:latin typeface="맑은 고딕"/>
                <a:ea typeface="맑은 고딕"/>
              </a:rPr>
              <a:t>✓  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926080"/>
            <a:ext cx="644652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플랫폼 내 상위노출 확보</a:t>
            </a: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 — 가장 효율 높은 셀러 유입 경로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공급 안정성 관리</a:t>
            </a: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 — 품절·지연·불량 제로가 최고의 마케팅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셀러가 모이는 곳 공략</a:t>
            </a: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 — 위탁판매·스마트스토어 카페, 오픈채팅·밴드, 셀러 대상 유튜브 제휴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상세페이지·촬영컷 무료 제공</a:t>
            </a: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 + 셀러 마진 여지 확보 → 채택률 상승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250" b="1">
                <a:solidFill>
                  <a:srgbClr val="E87A2E"/>
                </a:solidFill>
                <a:latin typeface="맑은 고딕"/>
                <a:ea typeface="맑은 고딕"/>
              </a:rPr>
              <a:t>▪  </a:t>
            </a:r>
            <a:r>
              <a:rPr sz="1250" b="1">
                <a:solidFill>
                  <a:srgbClr val="1F335C"/>
                </a:solidFill>
                <a:latin typeface="맑은 고딕"/>
                <a:ea typeface="맑은 고딕"/>
              </a:rPr>
              <a:t>소비자 노출은 ‘양보다 질’</a:t>
            </a: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 — 인스타 1개 + 스마트스토어 1개 + 체험단·마이크로 인플루언서·성과형 광고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VALUE-ADD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7. 사입 셀러 전용 무상 촬영 스튜디오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25880"/>
            <a:ext cx="11183112" cy="96012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6304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대여료 사업이 아니라 사입 확대 · 셀러 락인 장치 — 우리 모델은 ‘촬영 서비스를 얹은 도매’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D5DFF0"/>
                </a:solidFill>
                <a:latin typeface="맑은 고딕"/>
                <a:ea typeface="맑은 고딕"/>
              </a:rPr>
              <a:t>스튜디오 운영비는 늘어난 사입(도매) 매출의 마진으로 회수하는 ‘고객 유치·유지 비용(CAC)’으로 본다.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14600"/>
            <a:ext cx="6400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기대 효과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26080"/>
            <a:ext cx="3602736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926080"/>
            <a:ext cx="64008" cy="123444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4495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① 사입 전환율 상승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촬영 지원이 강력한 구매 유인 — 수많은 도매처 중 우리를 고를 결정적 이유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88535" y="2926080"/>
            <a:ext cx="3602736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88535" y="2926080"/>
            <a:ext cx="64008" cy="12344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7135" y="304495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② 락인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135" y="33832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스튜디오를 쓰려면 계속 우리 상품을 사입해야 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0" y="2926080"/>
            <a:ext cx="3602736" cy="123444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74150" y="2926080"/>
            <a:ext cx="64008" cy="1234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0" y="3044952"/>
            <a:ext cx="32004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1">
                <a:solidFill>
                  <a:srgbClr val="1F335C"/>
                </a:solidFill>
                <a:latin typeface="맑은 고딕"/>
                <a:ea typeface="맑은 고딕"/>
              </a:rPr>
              <a:t>③ 선순환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0" y="3383280"/>
            <a:ext cx="32004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0">
                <a:solidFill>
                  <a:srgbClr val="5A6472"/>
                </a:solidFill>
                <a:latin typeface="맑은 고딕"/>
                <a:ea typeface="맑은 고딕"/>
              </a:rPr>
              <a:t>셀러가 우리 상품을 직접 예쁘게 찍어 팔며 노출·매출이 함께 상승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4340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335C"/>
                </a:solidFill>
                <a:latin typeface="맑은 고딕"/>
                <a:ea typeface="맑은 고딕"/>
              </a:rPr>
              <a:t>무상 제공 조건 설계 — 사입 실적 연동 등급·크레딧제 (남용 방지)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02920" y="4754880"/>
          <a:ext cx="11183111" cy="1591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3305"/>
                <a:gridCol w="3659927"/>
                <a:gridCol w="609987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사입 기준 (예시)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스튜디오 혜택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기본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월 일정액 이상 사입 셀러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시간제 무상 이용(월 한도) + 기본 촬영 장비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우수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월 사입액 상위 셀러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무상 이용시간 확대 + 샘플 대여 + 보정·편집 지원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크레딧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사입액에 비례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사입 금액만큼 무료 촬영시간 적립·차감 (예약제)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VALUE-ADD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스튜디오 운영 · 유의사항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17320"/>
            <a:ext cx="64008" cy="822960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17320"/>
            <a:ext cx="28346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335C"/>
                </a:solidFill>
                <a:latin typeface="맑은 고딕"/>
                <a:ea typeface="맑은 고딕"/>
              </a:rPr>
              <a:t>크레딧제 핵심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17320"/>
            <a:ext cx="7680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사입액에 비례해 무료 촬영시간 적립 → 촬영을 쓸수록 사입이 늘도록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395728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395728"/>
            <a:ext cx="64008" cy="82296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95728"/>
            <a:ext cx="28346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335C"/>
                </a:solidFill>
                <a:latin typeface="맑은 고딕"/>
                <a:ea typeface="맑은 고딕"/>
              </a:rPr>
              <a:t>샘플 자산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95728"/>
            <a:ext cx="7680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무상이라도 샘플은 보증금·바코드(자산) 관리로 분실·훼손 통제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74136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74136"/>
            <a:ext cx="64008" cy="822960"/>
          </a:xfrm>
          <a:prstGeom prst="rect">
            <a:avLst/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374136"/>
            <a:ext cx="28346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335C"/>
                </a:solidFill>
                <a:latin typeface="맑은 고딕"/>
                <a:ea typeface="맑은 고딕"/>
              </a:rPr>
              <a:t>무인 셀프 스튜디오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374136"/>
            <a:ext cx="7680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예약·결제·출입 자동화로 인건비 최소화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52544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352544"/>
            <a:ext cx="64008" cy="822960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352544"/>
            <a:ext cx="28346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335C"/>
                </a:solidFill>
                <a:latin typeface="맑은 고딕"/>
                <a:ea typeface="맑은 고딕"/>
              </a:rPr>
              <a:t>‘무점포’ 원칙과의 조율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352544"/>
            <a:ext cx="7680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공간 임대 고정비 발생 → 소규모·공유형으로 시작, 사입 증대 효과 검증 후 확장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330952"/>
            <a:ext cx="11183112" cy="8229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330952"/>
            <a:ext cx="64008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30952"/>
            <a:ext cx="283464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F335C"/>
                </a:solidFill>
                <a:latin typeface="맑은 고딕"/>
                <a:ea typeface="맑은 고딕"/>
              </a:rPr>
              <a:t>비용 관점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330952"/>
            <a:ext cx="768096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>
                <a:solidFill>
                  <a:srgbClr val="333A45"/>
                </a:solidFill>
                <a:latin typeface="맑은 고딕"/>
                <a:ea typeface="맑은 고딕"/>
              </a:rPr>
              <a:t>운영비를 ‘사입 1건당 획득비용(CAC)’으로 관리, 도매 마진으로 회수되는지 지속 점검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8. 행정 · 규제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554480"/>
          <a:ext cx="11183111" cy="4343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46610"/>
                <a:gridCol w="833650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해야 할 일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사업자등록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의류/패션잡화 업종으로 등록 (도소매)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통신판매업 신고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온라인 판매 위해 관할 구청 신고 (구매안전서비스 확인증 필요)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KC인증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아동·유아복 취급 시 필수 (성인의류 제외)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수입 관련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원산지 표기, 섬유 혼용률·취급 라벨, FTA 원산지증명서 확보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세무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판매수수료·세금계산서·부가세 신고 대비 장부 관리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9. 실행 로드맵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63040"/>
            <a:ext cx="3630168" cy="777240"/>
          </a:xfrm>
          <a:prstGeom prst="roundRect">
            <a:avLst>
              <a:gd name="adj" fmla="val 8000"/>
            </a:avLst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36301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0 – 3개월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83664"/>
            <a:ext cx="36301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기반 구축 · 상품 등록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377440"/>
            <a:ext cx="3630168" cy="3794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3172968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E87A2E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사업자·통신판매업·(필요시) KC 준비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E87A2E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도매꾹 사업자회원 가입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E87A2E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자체제작 신상 소량 + 중국 완사입 베이직 상품군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E87A2E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퀄리티 촬영·상세페이지 제작 → 도매꾹 등록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463040"/>
            <a:ext cx="3630168" cy="777240"/>
          </a:xfrm>
          <a:prstGeom prst="roundRect">
            <a:avLst>
              <a:gd name="adj" fmla="val 8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554480"/>
            <a:ext cx="36301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3 – 6개월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1883664"/>
            <a:ext cx="36301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랭킹 상위화 · 물량화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5968" y="2377440"/>
            <a:ext cx="3630168" cy="3794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606040"/>
            <a:ext cx="3172968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E8B8B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거래·리뷰 축적으로 랭킹 상위화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E8B8B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반응 좋은 SKU를 베트남·국내 물량화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E8B8B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셀러 커뮤니티에서 우수 소매상 발굴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E8B8B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카톡채널/카페로 단골 소통 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9016" y="1463040"/>
            <a:ext cx="3630168" cy="777240"/>
          </a:xfrm>
          <a:prstGeom prst="roundRect">
            <a:avLst>
              <a:gd name="adj" fmla="val 8000"/>
            </a:avLst>
          </a:prstGeom>
          <a:solidFill>
            <a:srgbClr val="2A4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29016" y="1554480"/>
            <a:ext cx="3630168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</a:rPr>
              <a:t>6 – 12개월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9016" y="1883664"/>
            <a:ext cx="3630168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자체몰 구축 · 병행 운영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29016" y="2377440"/>
            <a:ext cx="3630168" cy="3794760"/>
          </a:xfrm>
          <a:prstGeom prst="roundRect">
            <a:avLst>
              <a:gd name="adj" fmla="val 8000"/>
            </a:avLst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2606040"/>
            <a:ext cx="3172968" cy="3383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A4478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단골 소매상 30~50곳 확보 시 자체 도매몰 구축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A4478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등급별 단가·전용 혜택으로 단골 이전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150" b="1">
                <a:solidFill>
                  <a:srgbClr val="2A4478"/>
                </a:solidFill>
                <a:latin typeface="맑은 고딕"/>
                <a:ea typeface="맑은 고딕"/>
              </a:rPr>
              <a:t>▪ </a:t>
            </a:r>
            <a:r>
              <a:rPr sz="1150" b="0">
                <a:solidFill>
                  <a:srgbClr val="333A45"/>
                </a:solidFill>
                <a:latin typeface="맑은 고딕"/>
                <a:ea typeface="맑은 고딕"/>
              </a:rPr>
              <a:t>플랫폼(신규 유입) + 자체몰(단골 유지) 병행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82296" cy="566928"/>
          </a:xfrm>
          <a:prstGeom prst="rect">
            <a:avLst/>
          </a:prstGeom>
          <a:solidFill>
            <a:srgbClr val="E87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219456"/>
            <a:ext cx="10515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>
                <a:solidFill>
                  <a:srgbClr val="E87A2E"/>
                </a:solidFill>
                <a:latin typeface="맑은 고딕"/>
                <a:ea typeface="맑은 고딕"/>
              </a:rPr>
              <a:t>RISK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720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>
                <a:solidFill>
                  <a:srgbClr val="1F335C"/>
                </a:solidFill>
                <a:latin typeface="맑은 고딕"/>
                <a:ea typeface="맑은 고딕"/>
              </a:rPr>
              <a:t>리스크와 대응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42415"/>
            <a:ext cx="11185855" cy="20320"/>
          </a:xfrm>
          <a:prstGeom prst="rect">
            <a:avLst/>
          </a:prstGeom>
          <a:solidFill>
            <a:srgbClr val="D8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>
                <a:solidFill>
                  <a:srgbClr val="5A6472"/>
                </a:solidFill>
                <a:latin typeface="맑은 고딕"/>
                <a:ea typeface="맑은 고딕"/>
              </a:rPr>
              <a:t>무점포 패션 도매 사업 실행 전략 · XAV+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1">
                <a:solidFill>
                  <a:srgbClr val="5A6472"/>
                </a:solidFill>
                <a:latin typeface="맑은 고딕"/>
                <a:ea typeface="맑은 고딕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463040"/>
          <a:ext cx="11183111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6586"/>
                <a:gridCol w="711652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리스크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대응 전략</a:t>
                      </a:r>
                    </a:p>
                  </a:txBody>
                  <a:tcPr marL="101600" marR="101600" marT="38100" marB="38100" anchor="ctr">
                    <a:solidFill>
                      <a:srgbClr val="1F335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재고 부담 (특히 중국 완사입)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국내 소량 테스트로 검증 후 물량화 → 악성재고 최소화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최저가 경쟁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자체제작 오리지널 비중 확대로 가격 방어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셀러 이탈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공급 안정성·CS 표준화로 신뢰지수 방어</a:t>
                      </a:r>
                    </a:p>
                  </a:txBody>
                  <a:tcPr marL="101600" marR="101600" marT="38100" marB="38100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F335C"/>
                          </a:solidFill>
                          <a:latin typeface="맑은 고딕"/>
                          <a:ea typeface="맑은 고딕"/>
                        </a:rPr>
                        <a:t>플랫폼 종속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333A45"/>
                          </a:solidFill>
                          <a:latin typeface="맑은 고딕"/>
                          <a:ea typeface="맑은 고딕"/>
                        </a:rPr>
                        <a:t>2단계 자체몰로 관계·데이터 소유권 확보</a:t>
                      </a:r>
                    </a:p>
                  </a:txBody>
                  <a:tcPr marL="101600" marR="101600" marT="38100" marB="38100" anchor="ctr"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2920" y="534924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1F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486400"/>
            <a:ext cx="1069848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자체제작 차별화  ×  공급 안정성  ×  퀄리티 촬영 — 세 가지가 갖춰지면 성장 가능성은 충분하다.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50" b="0">
                <a:solidFill>
                  <a:srgbClr val="B9C6DD"/>
                </a:solidFill>
                <a:latin typeface="맑은 고딕"/>
                <a:ea typeface="맑은 고딕"/>
              </a:rPr>
              <a:t>※ 본 보고서는 공개 자료 기반 조사이며, 수수료·정산·인증 세부 요건은 각 플랫폼·관할기관에 최종 확인 필요.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